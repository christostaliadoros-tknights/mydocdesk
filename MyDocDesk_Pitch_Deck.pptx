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5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3" r:id="rId9"/>
    <p:sldId id="257" r:id="rId3"/>
    <p:sldId id="265" r:id="rId11"/>
    <p:sldId id="274" r:id="rId20"/>
    <p:sldId id="270" r:id="rId16"/>
    <p:sldId id="259" r:id="rId5"/>
    <p:sldId id="275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MyDocDesk title slide.</a:t>
            </a:r>
          </a:p>
          <a:p>
            <a:r>
              <a:rPr lang="en-US"/>
              <a:t>Sources: https://mydocdesk.com ; product files /workspace/mydocdesk/index.html, app.js. Crest: official MyDocDesk logo (user-supplied attachment).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Meet Anastasia, the 24/7 AI medical &amp; dental receptionist.</a:t>
            </a:r>
          </a:p>
          <a:p>
            <a:r>
              <a:rPr lang="en-US"/>
              <a:t>Step 4 — Smart Calendar &amp; Case Note: Anastasia reads busy blocks across all of the doctor's connected calendars (personal, hospital rounds, clinic) without exposing private event details, then books confirmed appointments onto a dedicated color-coded "Anastasia AI" Google Calendar sub-calendar, so AI-booked vs. manual slots are visible at a glance.</a:t>
            </a:r>
          </a:p>
          <a:p>
            <a:r>
              <a:rPr lang="en-US"/>
              <a:t>Every booking also triggers the Zero-App WhatsApp quick-approval flow on slide 5 (Reply A / B / C / D) for Priority 2/3 and GeSY admin requests.</a:t>
            </a:r>
          </a:p>
          <a:p>
            <a:r>
              <a:rPr lang="en-US"/>
              <a:t>Source for the calendar layer and A/B/C/D approval features: product decision approved by Christos (Oct 2026).</a:t>
            </a:r>
          </a:p>
          <a:p>
            <a:r>
              <a:rPr lang="en-US"/>
              <a:t>Sources: https://mydocdesk.com ; /workspace/mydocdesk/index.html (How Anastasia Works: Cyta/Epic/Cablenet, *67*/*61* forwarding, EL/EN/RU, WhatsApp/SMS), app.js.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Phase 2 vision: the live patient discovery &amp; booking network, and the Founding Clinic advantage (first 20 clinics).</a:t>
            </a:r>
          </a:p>
          <a:p>
            <a:r>
              <a:rPr lang="en-US"/>
              <a:t>Sources: https://mydocdesk.com ; /workspace/mydocdesk/index.html, app.js, leave-behind.html.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daily clinic bottleneck: call volume, revenue lost per missed call, GeSY admin noise.</a:t>
            </a:r>
          </a:p>
          <a:p>
            <a:r>
              <a:rPr lang="en-US"/>
              <a:t>Figures as approved in the MyDocDesk pitch outline (owner estimates). Sources: https://mydocdesk.com ; /workspace/mydocdesk/index.html, app.js.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3-tier clinical &amp; dental priority triage: P1 urgent same-day (emergency buffer slots), P2 24-48h with photo intake, P3 routine/GeSY async batch queue.</a:t>
            </a:r>
          </a:p>
          <a:p>
            <a:r>
              <a:rPr lang="en-US"/>
              <a:t>Sources: https://mydocdesk.com ; /workspace/mydocdesk/index.html, app.js, leave-behind.html.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Built for Cyprus specialties: dentistry (featured), pediatrics &amp; GeSY personal doctors, dermatology, cardiology &amp; internal medicine.</a:t>
            </a:r>
          </a:p>
          <a:p>
            <a:r>
              <a:rPr lang="en-US"/>
              <a:t>Sources: https://mydocdesk.com ; /workspace/mydocdesk/index.html, app.js, leave-behind.html.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Structured pre-visit case notes and dental chair prep, synced to the doctor calendar. Case numbers in the mockup are demo examples.</a:t>
            </a:r>
          </a:p>
          <a:p>
            <a:r>
              <a:rPr lang="en-US"/>
              <a:t>Calendar layer: confirmed bookings land on a dedicated color-coded "Anastasia AI" sub-calendar (teal badge on the phone mock), after Anastasia reads busy blocks across personal, hospital-rounds and clinic calendars without leaking private details — the same layer shown in step 4 on slide 3.</a:t>
            </a:r>
          </a:p>
          <a:p>
            <a:r>
              <a:rPr lang="en-US"/>
              <a:t>Zero-App quick approval: for Priority 2/3 bookings and GeSY admin requests (repeat prescriptions, referrals, lab reviews), Anastasia sends a compact WhatsApp digest — Reply [A] Approve &amp; Send, [B] Book Morning Slot, [C] Request Photo/Labs, [D] Doctor Call Back. The doctor acts in 1 second from the lock screen, no dashboard needed.</a:t>
            </a:r>
          </a:p>
          <a:p>
            <a:r>
              <a:rPr lang="en-US"/>
              <a:t>Source for both features: product decision approved by Christos (Oct 2026); not yet described on mydocdesk.com.</a:t>
            </a:r>
          </a:p>
          <a:p>
            <a:r>
              <a:rPr lang="en-US"/>
              <a:t>Sources: https://mydocdesk.com ; /workspace/mydocdesk/index.html, app.js, leave-behind.html.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Closing: ROI comparison (front-desk secretary vs MyDocDesk founding rate), 14-day free pilot, zero-disruption setup, contact.</a:t>
            </a:r>
          </a:p>
          <a:p>
            <a:r>
              <a:rPr lang="en-US"/>
              <a:t>Contact: Christos Taliadoros, hello@mydocdesk.com, +357 99 429249. Attribution confirmed by Christos: Engineered &amp; Supported by T-Knights Consulting Ltd (Cyprus).</a:t>
            </a:r>
          </a:p>
          <a:p>
            <a:r>
              <a:rPr lang="en-US"/>
              <a:t>Sources: https://mydocdesk.com ; /workspace/mydocdesk/index.html, app.js, leave-behind.html.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9" Type="http://schemas.openxmlformats.org/officeDocument/2006/relationships/image" Target="../media/mydocdesk-crest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40740" y="777240"/>
            <a:ext cx="5897880" cy="1417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MyDocDesk: Intelligent Medical &amp; Dental Reception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40740" y="2286000"/>
            <a:ext cx="5486400" cy="7315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24/7 AI Voice &amp; WhatsApp Triage • Structured Pre-Visit Case Notes • Smart Schedule Protection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19710" y="3594506"/>
            <a:ext cx="3988613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35678" y="3470148"/>
            <a:ext cx="3931920" cy="277063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Built for Cyprus &amp; Greece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35678" y="3739896"/>
            <a:ext cx="3931920" cy="9144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GeSY doctors, private specialists &amp; dental clinics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mydocdesk.com  •  Sister platform to myvacai.com</a:t>
            </a:r>
            <a:endParaRPr lang="en-US" sz="1100" dirty="0"/>
          </a:p>
        </p:txBody>
      </p:sp>
      <p:pic>
        <p:nvPicPr>
          <p:cNvPr id="9" name="MyDocDesk Crest" descr="MyDocDesk crest logo (transparent background)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731520"/>
            <a:ext cx="224028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149133" y="192024"/>
            <a:ext cx="706831" cy="20756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Page 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7492" y="566928"/>
            <a:ext cx="4297680" cy="13258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Meet Anastasia — Answers Every Call &amp; WhatsApp in Under 1 Second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07492" y="2011680"/>
            <a:ext cx="429768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25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Normal Phone Calls + WhatsApp + SMS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7492" y="2276856"/>
            <a:ext cx="4297680" cy="6400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with your existing Cyta, Epic, or Cablenet clinic landline or mobile via simple "Forward When Busy / Unanswered" (*67* / *61*) — no new hardware or number change required.</a:t>
            </a:r>
            <a:endParaRPr lang="en-US" sz="1000" dirty="0"/>
          </a:p>
        </p:txBody>
      </p:sp>
      <p:sp>
        <p:nvSpPr>
          <p:cNvPr id="11" name="Point 2 head"/>
          <p:cNvSpPr/>
          <p:nvPr/>
        </p:nvSpPr>
        <p:spPr>
          <a:xfrm>
            <a:off x="507492" y="2926080"/>
            <a:ext cx="429768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25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Trilingual Fluency: Greek · English · Russian</a:t>
            </a:r>
            <a:endParaRPr lang="en-US" sz="1250" dirty="0"/>
          </a:p>
        </p:txBody>
      </p:sp>
      <p:sp>
        <p:nvSpPr>
          <p:cNvPr id="12" name="Point 2 body"/>
          <p:cNvSpPr/>
          <p:nvPr/>
        </p:nvSpPr>
        <p:spPr>
          <a:xfrm>
            <a:off x="507492" y="3191256"/>
            <a:ext cx="4297680" cy="6400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Speaks natural Cypriot/Standard Greek, English, and Russian over normal phone lines and transcribes WhatsApp voice notes automatically.</a:t>
            </a:r>
            <a:endParaRPr lang="en-US" sz="1000" dirty="0"/>
          </a:p>
        </p:txBody>
      </p:sp>
      <p:sp>
        <p:nvSpPr>
          <p:cNvPr id="13" name="Point 3 head"/>
          <p:cNvSpPr/>
          <p:nvPr/>
        </p:nvSpPr>
        <p:spPr>
          <a:xfrm>
            <a:off x="507492" y="3840480"/>
            <a:ext cx="429768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25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Instant WhatsApp / SMS Handoff</a:t>
            </a:r>
            <a:endParaRPr lang="en-US" sz="1250" dirty="0"/>
          </a:p>
        </p:txBody>
      </p:sp>
      <p:sp>
        <p:nvSpPr>
          <p:cNvPr id="14" name="Point 3 body"/>
          <p:cNvSpPr/>
          <p:nvPr/>
        </p:nvSpPr>
        <p:spPr>
          <a:xfrm>
            <a:off x="507492" y="4105656"/>
            <a:ext cx="4297680" cy="6400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Sends the appointment pass and optional photo/lab upload link while still on the call (or a standard SMS for landline/non-WhatsApp patients).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14570" y="562356"/>
            <a:ext cx="3688690" cy="4169664"/>
          </a:xfrm>
          <a:prstGeom prst="roundRect">
            <a:avLst>
              <a:gd name="adj" fmla="val 4834"/>
            </a:avLst>
          </a:prstGeom>
          <a:solidFill>
            <a:srgbClr val="F8FAFC"/>
          </a:solidFill>
          <a:ln/>
        </p:spPr>
      </p:sp>
      <p:sp>
        <p:nvSpPr>
          <p:cNvPr id="15" name="G1 15"/>
          <p:cNvSpPr/>
          <p:nvPr/>
        </p:nvSpPr>
        <p:spPr>
          <a:xfrm>
            <a:off x="5303520" y="7772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Lexend"/>
                <a:ea typeface="Lexend"/>
                <a:cs typeface="Lexend"/>
              </a:rPr>
              <a:t>HOW A CLINIC CALL FLOWS</a:t>
            </a:r>
          </a:p>
        </p:txBody>
      </p:sp>
      <p:sp>
        <p:nvSpPr>
          <p:cNvPr id="16" name="G1 16"/>
          <p:cNvSpPr/>
          <p:nvPr/>
        </p:nvSpPr>
        <p:spPr>
          <a:xfrm>
            <a:off x="5303520" y="1097280"/>
            <a:ext cx="310896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64592" tIns="45720" rIns="164592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1 · Patient calls your normal number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Busy or unanswered → forwarded (*67* / *61*)</a:t>
            </a:r>
          </a:p>
        </p:txBody>
      </p:sp>
      <p:sp>
        <p:nvSpPr>
          <p:cNvPr id="17" name="G1 17"/>
          <p:cNvSpPr/>
          <p:nvPr/>
        </p:nvSpPr>
        <p:spPr>
          <a:xfrm>
            <a:off x="6757416" y="1719072"/>
            <a:ext cx="201168" cy="146304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txBody>
          <a:bodyPr wrap="square" lIns="109728" tIns="45720" rIns="109728" bIns="45720" anchor="ctr" rtlCol="0">
            <a:noAutofit/>
          </a:bodyPr>
          <a:lstStyle/>
          <a:p>
            <a:endParaRPr lang="en-US"/>
          </a:p>
        </p:txBody>
      </p:sp>
      <p:sp>
        <p:nvSpPr>
          <p:cNvPr id="18" name="G1 18"/>
          <p:cNvSpPr/>
          <p:nvPr/>
        </p:nvSpPr>
        <p:spPr>
          <a:xfrm>
            <a:off x="5303520" y="1901952"/>
            <a:ext cx="3108960" cy="585216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noFill/>
          </a:ln>
        </p:spPr>
        <p:txBody>
          <a:bodyPr wrap="square" lIns="164592" tIns="45720" rIns="164592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2 · Anastasia answers in under 1 sec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0A192F"/>
                </a:solidFill>
                <a:latin typeface="DM Sans"/>
                <a:ea typeface="DM Sans"/>
                <a:cs typeface="DM Sans"/>
              </a:rPr>
              <a:t>Greek · English · Russian, 24/7</a:t>
            </a:r>
          </a:p>
        </p:txBody>
      </p:sp>
      <p:sp>
        <p:nvSpPr>
          <p:cNvPr id="19" name="G1 19"/>
          <p:cNvSpPr/>
          <p:nvPr/>
        </p:nvSpPr>
        <p:spPr>
          <a:xfrm>
            <a:off x="6757416" y="2523744"/>
            <a:ext cx="201168" cy="146304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txBody>
          <a:bodyPr wrap="square" lIns="109728" tIns="45720" rIns="109728" bIns="45720" anchor="ctr" rtlCol="0">
            <a:noAutofit/>
          </a:bodyPr>
          <a:lstStyle/>
          <a:p>
            <a:endParaRPr lang="en-US"/>
          </a:p>
        </p:txBody>
      </p:sp>
      <p:sp>
        <p:nvSpPr>
          <p:cNvPr id="22" name="G1 Arrow 4"/>
          <p:cNvSpPr/>
          <p:nvPr/>
        </p:nvSpPr>
        <p:spPr>
          <a:xfrm>
            <a:off x="6757416" y="3328416"/>
            <a:ext cx="201168" cy="146304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txBody>
          <a:bodyPr wrap="square" lIns="109728" tIns="45720" rIns="109728" bIns="45720" anchor="ctr" rtlCol="0">
            <a:noAutofit/>
          </a:bodyPr>
          <a:lstStyle/>
          <a:p>
            <a:endParaRPr lang="en-US"/>
          </a:p>
        </p:txBody>
      </p:sp>
      <p:sp>
        <p:nvSpPr>
          <p:cNvPr id="23" name="G1 Step 4"/>
          <p:cNvSpPr/>
          <p:nvPr/>
        </p:nvSpPr>
        <p:spPr>
          <a:xfrm>
            <a:off x="5303520" y="3511296"/>
            <a:ext cx="310896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txBody>
          <a:bodyPr wrap="square" lIns="164592" tIns="45720" rIns="164592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4 · Smart Calendar &amp; Case Note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Reads busy blocks on all calendars, books into a color-coded “Anastasia AI” layer</a:t>
            </a:r>
          </a:p>
        </p:txBody>
      </p:sp>
      <p:sp>
        <p:nvSpPr>
          <p:cNvPr id="20" name="G1 20"/>
          <p:cNvSpPr/>
          <p:nvPr/>
        </p:nvSpPr>
        <p:spPr>
          <a:xfrm>
            <a:off x="5303520" y="2706624"/>
            <a:ext cx="3108960" cy="585216"/>
          </a:xfrm>
          <a:prstGeom prst="roundRect">
            <a:avLst>
              <a:gd name="adj" fmla="val 12000"/>
            </a:avLst>
          </a:prstGeom>
          <a:solidFill>
            <a:srgbClr val="0A192F"/>
          </a:solidFill>
          <a:ln>
            <a:noFill/>
          </a:ln>
        </p:spPr>
        <p:txBody>
          <a:bodyPr wrap="square" lIns="164592" tIns="45720" rIns="164592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Lexend"/>
                <a:ea typeface="Lexend"/>
                <a:cs typeface="Lexend"/>
              </a:rPr>
              <a:t>3 · Pass sent on WhatsApp / SMS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E2E8F0"/>
                </a:solidFill>
                <a:latin typeface="DM Sans"/>
                <a:ea typeface="DM Sans"/>
                <a:cs typeface="DM Sans"/>
              </a:rPr>
              <a:t>Appointment pass + photo/lab upload link</a:t>
            </a:r>
          </a:p>
        </p:txBody>
      </p:sp>
      <p:sp>
        <p:nvSpPr>
          <p:cNvPr id="21" name="G1 21"/>
          <p:cNvSpPr/>
          <p:nvPr/>
        </p:nvSpPr>
        <p:spPr>
          <a:xfrm>
            <a:off x="5303520" y="427939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F766E"/>
                </a:solidFill>
                <a:latin typeface="DM Sans"/>
                <a:ea typeface="DM Sans"/>
                <a:cs typeface="DM Sans"/>
              </a:rPr>
              <a:t>Private details never shared  •  No new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149133" y="192024"/>
            <a:ext cx="706831" cy="20756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Page 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40740" y="566928"/>
            <a:ext cx="8229600" cy="9601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“Come for the Receptionist, Stay for the Patient Network”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4074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Your AI Calendar Unlocks Phase 2 Patient Discovery Across Cyprus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40741" y="2194560"/>
            <a:ext cx="3891686" cy="2560320"/>
          </a:xfrm>
          <a:prstGeom prst="roundRect">
            <a:avLst>
              <a:gd name="adj" fmla="val 9702"/>
            </a:avLst>
          </a:prstGeom>
          <a:solidFill>
            <a:srgbClr val="0A192F"/>
          </a:solidFill>
          <a:ln/>
        </p:spPr>
      </p:sp>
      <p:sp>
        <p:nvSpPr>
          <p:cNvPr id="13" name="G1 13"/>
          <p:cNvSpPr/>
          <p:nvPr/>
        </p:nvSpPr>
        <p:spPr>
          <a:xfrm>
            <a:off x="651967" y="2377440"/>
            <a:ext cx="1143000" cy="23774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PHASE 2</a:t>
            </a:r>
          </a:p>
        </p:txBody>
      </p:sp>
      <p:sp>
        <p:nvSpPr>
          <p:cNvPr id="8" name="Text 5"/>
          <p:cNvSpPr/>
          <p:nvPr/>
        </p:nvSpPr>
        <p:spPr>
          <a:xfrm>
            <a:off x="651967" y="2697480"/>
            <a:ext cx="3520440" cy="5486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 b="1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Live Cyprus Doctor &amp; Dentist Finder App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1967" y="3246120"/>
            <a:ext cx="3520440" cy="1417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 b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Once clinics use MyDocDesk as their real-time calendar source of truth, patients across Nicosia, Limassol, Larnaca, and Paphos can search by symptom or specialty and book verified open slots directly—with </a:t>
            </a:r>
            <a:r>
              <a:rPr lang="en-US" sz="1050" dirty="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 double-bookings</a:t>
            </a:r>
            <a:r>
              <a:rPr lang="en-US" sz="1050" dirty="0" b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pre-triaged priority rules still enforced.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35678" y="2194560"/>
            <a:ext cx="3891686" cy="2560320"/>
          </a:xfrm>
          <a:prstGeom prst="roundRect">
            <a:avLst>
              <a:gd name="adj" fmla="val 9702"/>
            </a:avLst>
          </a:prstGeom>
          <a:solidFill>
            <a:srgbClr val="14B8A6"/>
          </a:solidFill>
          <a:ln/>
        </p:spPr>
      </p:sp>
      <p:sp>
        <p:nvSpPr>
          <p:cNvPr id="14" name="G1 14"/>
          <p:cNvSpPr/>
          <p:nvPr/>
        </p:nvSpPr>
        <p:spPr>
          <a:xfrm>
            <a:off x="4946904" y="2377440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0A192F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Lexend"/>
                <a:ea typeface="Lexend"/>
                <a:cs typeface="Lexend"/>
              </a:rPr>
              <a:t>FOUNDING 20</a:t>
            </a:r>
          </a:p>
        </p:txBody>
      </p:sp>
      <p:sp>
        <p:nvSpPr>
          <p:cNvPr id="11" name="Text 8"/>
          <p:cNvSpPr/>
          <p:nvPr/>
        </p:nvSpPr>
        <p:spPr>
          <a:xfrm>
            <a:off x="4946904" y="2697480"/>
            <a:ext cx="3520440" cy="5486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Founding Clinic Network Advantage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46904" y="3246120"/>
            <a:ext cx="3520440" cy="1417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 b="0">
                <a:solidFill>
                  <a:srgbClr val="0A1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first 20 Founding Clinics in Cyprus lock in </a:t>
            </a:r>
            <a:r>
              <a:rPr lang="en-US" sz="1050" dirty="0" b="1">
                <a:solidFill>
                  <a:srgbClr val="0A1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permanent priority placement</a:t>
            </a:r>
            <a:r>
              <a:rPr lang="en-US" sz="1050" dirty="0" b="0">
                <a:solidFill>
                  <a:srgbClr val="0A1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specialty search results, automatic cross-referral intake from participating GeSY Personal Doctors, and </a:t>
            </a:r>
            <a:r>
              <a:rPr lang="en-US" sz="1050" dirty="0" b="1">
                <a:solidFill>
                  <a:srgbClr val="0A1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€0 marketplace commission</a:t>
            </a:r>
            <a:r>
              <a:rPr lang="en-US" sz="1050" dirty="0" b="0">
                <a:solidFill>
                  <a:srgbClr val="0A1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 patient bookings.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F">
              <a:alpha val="66000"/>
            </a:srgbClr>
          </a:solidFill>
          <a:ln/>
        </p:spPr>
      </p:sp>
      <p:pic>
        <p:nvPicPr>
          <p:cNvPr id="10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149133" y="192024"/>
            <a:ext cx="706831" cy="20756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Page 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55041" y="685800"/>
            <a:ext cx="8033918" cy="13258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Why Solo &amp; Specialist Clinics Lose Hours and Revenue Every Day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1001268" y="2312518"/>
            <a:ext cx="7141464" cy="2418588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1216152" y="2450592"/>
            <a:ext cx="210312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CALLS PER DAY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16152" y="2724912"/>
            <a:ext cx="2103120" cy="56692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40–100+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216152" y="3310128"/>
            <a:ext cx="2103120" cy="13258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Constant phone &amp; WhatsApp interruptions while the doctor is examining a patient or the dentist is chairside with gloves on.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02736" y="2450592"/>
            <a:ext cx="210312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LOST PER MISSED CALL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02736" y="2724912"/>
            <a:ext cx="2103120" cy="56692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€60–€500+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3602736" y="3310128"/>
            <a:ext cx="2103120" cy="13258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single missed private consultation, dermatology procedure, crown repair, or implant inquiry goes straight to the next clinic that answers.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89320" y="2450592"/>
            <a:ext cx="210312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GeSY ADMIN NOISE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89320" y="2724912"/>
            <a:ext cx="2103120" cy="56692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30–40%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5989320" y="3310128"/>
            <a:ext cx="2103120" cy="13258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GeSY prescriptions and specialist referral requests clog up the phone line and consume valuable in-person exam slots.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380537" y="2614270"/>
            <a:ext cx="0" cy="1866290"/>
          </a:xfrm>
          <a:prstGeom prst="line">
            <a:avLst/>
          </a:prstGeom>
          <a:noFill/>
          <a:ln w="9525">
            <a:solidFill>
              <a:srgbClr val="0A192F">
                <a:alpha val="82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763463" y="2614270"/>
            <a:ext cx="0" cy="1866290"/>
          </a:xfrm>
          <a:prstGeom prst="line">
            <a:avLst/>
          </a:prstGeom>
          <a:noFill/>
          <a:ln w="9525">
            <a:solidFill>
              <a:srgbClr val="0A192F">
                <a:alpha val="8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5400000">
            <a:off x="4427525" y="427025"/>
            <a:ext cx="5143500" cy="4288536"/>
          </a:xfrm>
          <a:custGeom>
            <a:avLst/>
            <a:gdLst/>
            <a:ahLst/>
            <a:cxnLst/>
            <a:rect l="l" t="t" r="r" b="b"/>
            <a:pathLst>
              <a:path w="5143500" h="4288536">
                <a:moveTo>
                  <a:pt x="0" y="4288536"/>
                </a:moveTo>
                <a:lnTo>
                  <a:pt x="0" y="214884"/>
                </a:lnTo>
                <a:cubicBezTo>
                  <a:pt x="0" y="96204"/>
                  <a:pt x="96204" y="0"/>
                  <a:pt x="214884" y="0"/>
                </a:cubicBezTo>
                <a:lnTo>
                  <a:pt x="4928616" y="0"/>
                </a:lnTo>
                <a:cubicBezTo>
                  <a:pt x="5047296" y="0"/>
                  <a:pt x="5143500" y="96204"/>
                  <a:pt x="5143500" y="214884"/>
                </a:cubicBezTo>
                <a:lnTo>
                  <a:pt x="5143500" y="4288536"/>
                </a:lnTo>
                <a:close/>
              </a:path>
            </a:pathLst>
          </a:custGeom>
          <a:solidFill>
            <a:srgbClr val="0A192F"/>
          </a:solidFill>
          <a:ln/>
        </p:spPr>
      </p:sp>
      <p:pic>
        <p:nvPicPr>
          <p:cNvPr id="3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149133" y="192024"/>
            <a:ext cx="706831" cy="20756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Page 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40740" y="548640"/>
            <a:ext cx="4114800" cy="10515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3-Tier Clinical &amp; Dental Priority Triage (P1 / P2 / P3)</a:t>
            </a:r>
            <a:endParaRPr lang="en-US" sz="2000" dirty="0"/>
          </a:p>
        </p:txBody>
      </p:sp>
      <p:sp>
        <p:nvSpPr>
          <p:cNvPr id="17" name="G1 17"/>
          <p:cNvSpPr/>
          <p:nvPr/>
        </p:nvSpPr>
        <p:spPr>
          <a:xfrm>
            <a:off x="440740" y="1627632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2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Protects Same-Day Emergency Capacity While Filtering Out Routine Admin</a:t>
            </a:r>
          </a:p>
        </p:txBody>
      </p:sp>
      <p:sp>
        <p:nvSpPr>
          <p:cNvPr id="7" name="Text 4"/>
          <p:cNvSpPr/>
          <p:nvPr/>
        </p:nvSpPr>
        <p:spPr>
          <a:xfrm>
            <a:off x="5760720" y="640080"/>
            <a:ext cx="3200400" cy="3657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050" dirty="0" b="1">
                <a:solidFill>
                  <a:srgbClr val="EF44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Priority 1 — Urgent Same-Day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0" y="640080"/>
            <a:ext cx="731520" cy="5486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EF44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760720" y="1024127"/>
            <a:ext cx="3200400" cy="9144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pediatric fever (&gt;39°C), acute otalgia, broken front crown, or severe toothache → Anastasia screens red flags and unlocks your protected 12:30 PM / 5:00 PM Emergency Buffer Slot.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050" dirty="0" b="1">
                <a:solidFill>
                  <a:srgbClr val="F59E0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Priority 2 — Standard 24–48h + Photo Intake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0" y="1965960"/>
            <a:ext cx="731520" cy="5486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59E0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760720" y="2350008"/>
            <a:ext cx="3200400" cy="9144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Spreading skin rash, lab review, lost filling, or implant consult → Anastasia requests a smartphone photo or PDF on WhatsApp and books the right slot duration (15m / 30m / 45m / 60m).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76072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050" dirty="0" b="1">
                <a:solidFill>
                  <a:srgbClr val="22C55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Priority 3 — Routine &amp; GeSY Async Queue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0" y="3291840"/>
            <a:ext cx="731520" cy="5486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22C55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P3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5760720" y="3675888"/>
            <a:ext cx="3200400" cy="9144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GeSY prescriptions, specialist referrals, or dental scaling &amp; hygiene every 6 months → routed to your 5-Minute End-of-Day GeSY Batch Queue or to off-peak hygiene hours, never a prime exam slot.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40741" y="2212848"/>
            <a:ext cx="3848710" cy="2514600"/>
          </a:xfrm>
          <a:prstGeom prst="roundRect">
            <a:avLst>
              <a:gd name="adj" fmla="val 7463"/>
            </a:avLst>
          </a:prstGeom>
          <a:solidFill>
            <a:srgbClr val="F8FAFC"/>
          </a:solidFill>
          <a:ln/>
        </p:spPr>
      </p:sp>
      <p:sp>
        <p:nvSpPr>
          <p:cNvPr id="18" name="G1 18"/>
          <p:cNvSpPr/>
          <p:nvPr/>
        </p:nvSpPr>
        <p:spPr>
          <a:xfrm>
            <a:off x="640080" y="230428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4748B"/>
                </a:solidFill>
                <a:latin typeface="Lexend"/>
                <a:ea typeface="Lexend"/>
                <a:cs typeface="Lexend"/>
              </a:rPr>
              <a:t>YOUR PROTECTED DAILY SCHEDULE</a:t>
            </a:r>
          </a:p>
        </p:txBody>
      </p:sp>
      <p:sp>
        <p:nvSpPr>
          <p:cNvPr id="19" name="G1 19"/>
          <p:cNvSpPr/>
          <p:nvPr/>
        </p:nvSpPr>
        <p:spPr>
          <a:xfrm>
            <a:off x="640080" y="2651760"/>
            <a:ext cx="3474720" cy="420624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 w="9525">
            <a:solidFill>
              <a:srgbClr val="EF4444"/>
            </a:solidFill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en-US"/>
          </a:p>
        </p:txBody>
      </p:sp>
      <p:sp>
        <p:nvSpPr>
          <p:cNvPr id="20" name="G1 20"/>
          <p:cNvSpPr/>
          <p:nvPr/>
        </p:nvSpPr>
        <p:spPr>
          <a:xfrm>
            <a:off x="713232" y="2651760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12:30 PM</a:t>
            </a:r>
          </a:p>
        </p:txBody>
      </p:sp>
      <p:sp>
        <p:nvSpPr>
          <p:cNvPr id="21" name="G1 21"/>
          <p:cNvSpPr/>
          <p:nvPr/>
        </p:nvSpPr>
        <p:spPr>
          <a:xfrm>
            <a:off x="1691640" y="2651760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Emergency buffer (P1 only)</a:t>
            </a:r>
          </a:p>
        </p:txBody>
      </p:sp>
      <p:sp>
        <p:nvSpPr>
          <p:cNvPr id="22" name="G1 22"/>
          <p:cNvSpPr/>
          <p:nvPr/>
        </p:nvSpPr>
        <p:spPr>
          <a:xfrm>
            <a:off x="640080" y="3154680"/>
            <a:ext cx="3474720" cy="420624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 w="9525">
            <a:solidFill>
              <a:srgbClr val="EF4444"/>
            </a:solidFill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en-US"/>
          </a:p>
        </p:txBody>
      </p:sp>
      <p:sp>
        <p:nvSpPr>
          <p:cNvPr id="23" name="G1 23"/>
          <p:cNvSpPr/>
          <p:nvPr/>
        </p:nvSpPr>
        <p:spPr>
          <a:xfrm>
            <a:off x="713232" y="3154680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5:00 PM</a:t>
            </a:r>
          </a:p>
        </p:txBody>
      </p:sp>
      <p:sp>
        <p:nvSpPr>
          <p:cNvPr id="24" name="G1 24"/>
          <p:cNvSpPr/>
          <p:nvPr/>
        </p:nvSpPr>
        <p:spPr>
          <a:xfrm>
            <a:off x="1691640" y="3154680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Emergency buffer (P1 only)</a:t>
            </a:r>
          </a:p>
        </p:txBody>
      </p:sp>
      <p:sp>
        <p:nvSpPr>
          <p:cNvPr id="25" name="G1 25"/>
          <p:cNvSpPr/>
          <p:nvPr/>
        </p:nvSpPr>
        <p:spPr>
          <a:xfrm>
            <a:off x="640080" y="3657600"/>
            <a:ext cx="3474720" cy="420624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9525">
            <a:solidFill>
              <a:srgbClr val="22C55E"/>
            </a:solidFill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en-US"/>
          </a:p>
        </p:txBody>
      </p:sp>
      <p:sp>
        <p:nvSpPr>
          <p:cNvPr id="26" name="G1 26"/>
          <p:cNvSpPr/>
          <p:nvPr/>
        </p:nvSpPr>
        <p:spPr>
          <a:xfrm>
            <a:off x="713232" y="3657600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End of day</a:t>
            </a:r>
          </a:p>
        </p:txBody>
      </p:sp>
      <p:sp>
        <p:nvSpPr>
          <p:cNvPr id="27" name="G1 27"/>
          <p:cNvSpPr/>
          <p:nvPr/>
        </p:nvSpPr>
        <p:spPr>
          <a:xfrm>
            <a:off x="1691640" y="3657600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5-minute GeSY batch queue (P3)</a:t>
            </a:r>
          </a:p>
        </p:txBody>
      </p:sp>
      <p:sp>
        <p:nvSpPr>
          <p:cNvPr id="28" name="G1 28"/>
          <p:cNvSpPr/>
          <p:nvPr/>
        </p:nvSpPr>
        <p:spPr>
          <a:xfrm>
            <a:off x="640080" y="4160520"/>
            <a:ext cx="3474720" cy="420624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9525">
            <a:solidFill>
              <a:srgbClr val="22C55E"/>
            </a:solidFill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en-US"/>
          </a:p>
        </p:txBody>
      </p:sp>
      <p:sp>
        <p:nvSpPr>
          <p:cNvPr id="29" name="G1 29"/>
          <p:cNvSpPr/>
          <p:nvPr/>
        </p:nvSpPr>
        <p:spPr>
          <a:xfrm>
            <a:off x="713232" y="4160520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Off-peak</a:t>
            </a:r>
          </a:p>
        </p:txBody>
      </p:sp>
      <p:sp>
        <p:nvSpPr>
          <p:cNvPr id="30" name="G1 30"/>
          <p:cNvSpPr/>
          <p:nvPr/>
        </p:nvSpPr>
        <p:spPr>
          <a:xfrm>
            <a:off x="1691640" y="4160520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Hygiene &amp; scaling hours (P3)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-1069848" y="1057961"/>
            <a:ext cx="5155387" cy="3015691"/>
          </a:xfrm>
          <a:custGeom>
            <a:avLst/>
            <a:gdLst/>
            <a:ahLst/>
            <a:cxnLst/>
            <a:rect l="l" t="t" r="r" b="b"/>
            <a:pathLst>
              <a:path w="5155387" h="3015691">
                <a:moveTo>
                  <a:pt x="0" y="3015691"/>
                </a:moveTo>
                <a:lnTo>
                  <a:pt x="0" y="238658"/>
                </a:lnTo>
                <a:cubicBezTo>
                  <a:pt x="0" y="106847"/>
                  <a:pt x="106847" y="0"/>
                  <a:pt x="238658" y="0"/>
                </a:cubicBezTo>
                <a:lnTo>
                  <a:pt x="4916729" y="0"/>
                </a:lnTo>
                <a:cubicBezTo>
                  <a:pt x="5048540" y="0"/>
                  <a:pt x="5155387" y="106847"/>
                  <a:pt x="5155387" y="238658"/>
                </a:cubicBezTo>
                <a:lnTo>
                  <a:pt x="5155387" y="3015691"/>
                </a:lnTo>
                <a:close/>
              </a:path>
            </a:pathLst>
          </a:custGeom>
          <a:solidFill>
            <a:srgbClr val="0A192F"/>
          </a:solidFill>
          <a:ln/>
        </p:spPr>
      </p:sp>
      <p:pic>
        <p:nvPicPr>
          <p:cNvPr id="3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149133" y="192024"/>
            <a:ext cx="706831" cy="20756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Page 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38328" y="566928"/>
            <a:ext cx="2697480" cy="11430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Tailored Triage Rules Across Medical &amp; Dental Specialties</a:t>
            </a:r>
            <a:endParaRPr lang="en-US" sz="1800" dirty="0"/>
          </a:p>
        </p:txBody>
      </p:sp>
      <p:sp>
        <p:nvSpPr>
          <p:cNvPr id="54" name="G1 54"/>
          <p:cNvSpPr/>
          <p:nvPr/>
        </p:nvSpPr>
        <p:spPr>
          <a:xfrm>
            <a:off x="411480" y="1874519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FEATURED</a:t>
            </a:r>
          </a:p>
        </p:txBody>
      </p:sp>
      <p:sp>
        <p:nvSpPr>
          <p:cNvPr id="14" name="Text 11"/>
          <p:cNvSpPr/>
          <p:nvPr/>
        </p:nvSpPr>
        <p:spPr>
          <a:xfrm>
            <a:off x="338328" y="2212848"/>
            <a:ext cx="2697480" cy="34747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Dentistry &amp; Implantology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38328" y="2560320"/>
            <a:ext cx="269748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General, Cosmetic &amp; Implant Dentistry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38328" y="2880360"/>
            <a:ext cx="2697480" cy="19202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Hands-free answering while chairside with gloves on; 30m emergency toothache/crown buffer slots, WhatsApp tooth photo intake, and variable 30m/45m/60m block booking.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83280" y="1005840"/>
            <a:ext cx="1700784" cy="3429000"/>
          </a:xfrm>
          <a:prstGeom prst="roundRect">
            <a:avLst>
              <a:gd name="adj" fmla="val 11104"/>
            </a:avLst>
          </a:prstGeom>
          <a:solidFill>
            <a:srgbClr val="F8FAFC"/>
          </a:solidFill>
          <a:ln/>
        </p:spPr>
      </p:sp>
      <p:sp>
        <p:nvSpPr>
          <p:cNvPr id="24" name="Text 21"/>
          <p:cNvSpPr/>
          <p:nvPr/>
        </p:nvSpPr>
        <p:spPr>
          <a:xfrm>
            <a:off x="3456432" y="1170432"/>
            <a:ext cx="1554480" cy="7315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Pediatrics &amp; GeSY Personal Doctors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456432" y="1901952"/>
            <a:ext cx="1554480" cy="4572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76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Care &amp; Pediatric Clinics</a:t>
            </a:r>
            <a:endParaRPr lang="en-US" sz="1000" dirty="0"/>
          </a:p>
        </p:txBody>
      </p:sp>
      <p:sp>
        <p:nvSpPr>
          <p:cNvPr id="55" name="G1 55"/>
          <p:cNvSpPr/>
          <p:nvPr/>
        </p:nvSpPr>
        <p:spPr>
          <a:xfrm>
            <a:off x="3456432" y="2423160"/>
            <a:ext cx="1554480" cy="2103120"/>
          </a:xfrm>
          <a:prstGeom prst="rect">
            <a:avLst/>
          </a:prstGeom>
          <a:noFill/>
          <a:ln>
            <a:noFill/>
          </a:ln>
        </p:spPr>
        <p:txBody>
          <a:bodyPr wrap="square" lIns="64008" tIns="45720" rIns="64008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Fever &amp; red-flag triage, working-parent WhatsApp handoff, and automatic deflection of daily GeSY repeat prescriptions &amp; referrals.</a:t>
            </a:r>
          </a:p>
        </p:txBody>
      </p:sp>
      <p:sp>
        <p:nvSpPr>
          <p:cNvPr id="31" name="Shape 28"/>
          <p:cNvSpPr/>
          <p:nvPr/>
        </p:nvSpPr>
        <p:spPr>
          <a:xfrm>
            <a:off x="5230368" y="1005840"/>
            <a:ext cx="1700784" cy="3429000"/>
          </a:xfrm>
          <a:prstGeom prst="roundRect">
            <a:avLst>
              <a:gd name="adj" fmla="val 11104"/>
            </a:avLst>
          </a:prstGeom>
          <a:solidFill>
            <a:srgbClr val="F8FAFC"/>
          </a:solidFill>
          <a:ln/>
        </p:spPr>
      </p:sp>
      <p:sp>
        <p:nvSpPr>
          <p:cNvPr id="38" name="Text 35"/>
          <p:cNvSpPr/>
          <p:nvPr/>
        </p:nvSpPr>
        <p:spPr>
          <a:xfrm>
            <a:off x="5303520" y="1170432"/>
            <a:ext cx="1554480" cy="7315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Dermatology &amp; Aesthetic Clinics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303520" y="1901952"/>
            <a:ext cx="1554480" cy="4572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76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Clinical &amp; Cosmetic Dermatology</a:t>
            </a:r>
            <a:endParaRPr lang="en-US" sz="1000" dirty="0"/>
          </a:p>
        </p:txBody>
      </p:sp>
      <p:sp>
        <p:nvSpPr>
          <p:cNvPr id="56" name="G1 56"/>
          <p:cNvSpPr/>
          <p:nvPr/>
        </p:nvSpPr>
        <p:spPr>
          <a:xfrm>
            <a:off x="5303520" y="2423160"/>
            <a:ext cx="1554480" cy="2103120"/>
          </a:xfrm>
          <a:prstGeom prst="rect">
            <a:avLst/>
          </a:prstGeom>
          <a:noFill/>
          <a:ln>
            <a:noFill/>
          </a:ln>
        </p:spPr>
        <p:txBody>
          <a:bodyPr wrap="square" lIns="64008" tIns="45720" rIns="64008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High-resolution WhatsApp photo intake before the visit, so urgent rashes are seen fast and cosmetic/laser slots stay organized.</a:t>
            </a:r>
          </a:p>
        </p:txBody>
      </p:sp>
      <p:sp>
        <p:nvSpPr>
          <p:cNvPr id="45" name="Shape 42"/>
          <p:cNvSpPr/>
          <p:nvPr/>
        </p:nvSpPr>
        <p:spPr>
          <a:xfrm>
            <a:off x="7077456" y="1005840"/>
            <a:ext cx="1700784" cy="3429000"/>
          </a:xfrm>
          <a:prstGeom prst="roundRect">
            <a:avLst>
              <a:gd name="adj" fmla="val 11104"/>
            </a:avLst>
          </a:prstGeom>
          <a:solidFill>
            <a:srgbClr val="F8FAFC"/>
          </a:solidFill>
          <a:ln/>
        </p:spPr>
      </p:sp>
      <p:sp>
        <p:nvSpPr>
          <p:cNvPr id="52" name="Text 49"/>
          <p:cNvSpPr/>
          <p:nvPr/>
        </p:nvSpPr>
        <p:spPr>
          <a:xfrm>
            <a:off x="7150608" y="1170432"/>
            <a:ext cx="1554480" cy="7315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Cardiology &amp; Internal Medicine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7150608" y="1901952"/>
            <a:ext cx="1554480" cy="4572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76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Cardiology &amp; Internal Medicine</a:t>
            </a:r>
            <a:endParaRPr lang="en-US" sz="1000" dirty="0"/>
          </a:p>
        </p:txBody>
      </p:sp>
      <p:sp>
        <p:nvSpPr>
          <p:cNvPr id="57" name="G1 57"/>
          <p:cNvSpPr/>
          <p:nvPr/>
        </p:nvSpPr>
        <p:spPr>
          <a:xfrm>
            <a:off x="7150608" y="2423160"/>
            <a:ext cx="1554480" cy="2103120"/>
          </a:xfrm>
          <a:prstGeom prst="rect">
            <a:avLst/>
          </a:prstGeom>
          <a:noFill/>
          <a:ln>
            <a:noFill/>
          </a:ln>
        </p:spPr>
        <p:txBody>
          <a:bodyPr wrap="square" lIns="64008" tIns="45720" rIns="64008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Pre-visit BP/ECG log collection and structured chronic GeSY medication renewal batching.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149133" y="192024"/>
            <a:ext cx="706831" cy="20756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Page 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40740" y="502920"/>
            <a:ext cx="4572000" cy="8686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Every Calendar Event Arrives With a 3-Bullet Case Note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 rot="-540000">
            <a:off x="5095037" y="1831543"/>
            <a:ext cx="3364992" cy="5047488"/>
          </a:xfrm>
          <a:prstGeom prst="roundRect">
            <a:avLst>
              <a:gd name="adj" fmla="val 5326"/>
            </a:avLst>
          </a:prstGeom>
          <a:solidFill>
            <a:srgbClr val="F8FAFC"/>
          </a:solidFill>
          <a:ln/>
        </p:spPr>
      </p:sp>
      <p:sp>
        <p:nvSpPr>
          <p:cNvPr id="23" name="G1 23"/>
          <p:cNvSpPr/>
          <p:nvPr/>
        </p:nvSpPr>
        <p:spPr>
          <a:xfrm rot="-540000">
            <a:off x="5050703" y="1966197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Lexend"/>
                <a:ea typeface="Lexend"/>
                <a:cs typeface="Lexend"/>
              </a:rPr>
              <a:t>TODAY  •  </a:t>
            </a:r>
            <a:r>
              <a:rPr lang="en-US" sz="900" b="1" dirty="0">
                <a:solidFill>
                  <a:srgbClr val="14B8A6"/>
                </a:solidFill>
                <a:latin typeface="Lexend"/>
                <a:ea typeface="Lexend"/>
                <a:cs typeface="Lexend"/>
              </a:rPr>
              <a:t>■ </a:t>
            </a:r>
            <a:r>
              <a:rPr lang="en-US" sz="900" b="1" dirty="0">
                <a:solidFill>
                  <a:srgbClr val="0F766E"/>
                </a:solidFill>
                <a:latin typeface="Lexend"/>
                <a:ea typeface="Lexend"/>
                <a:cs typeface="Lexend"/>
              </a:rPr>
              <a:t>Anastasia AI layer</a:t>
            </a:r>
          </a:p>
        </p:txBody>
      </p:sp>
      <p:sp>
        <p:nvSpPr>
          <p:cNvPr id="24" name="G1 24"/>
          <p:cNvSpPr/>
          <p:nvPr/>
        </p:nvSpPr>
        <p:spPr>
          <a:xfrm rot="-540000">
            <a:off x="5185164" y="2312230"/>
            <a:ext cx="2743200" cy="1298448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9525">
            <a:solidFill>
              <a:srgbClr val="EF4444"/>
            </a:solidFill>
          </a:ln>
        </p:spPr>
        <p:txBody>
          <a:bodyPr wrap="square" lIns="109728" tIns="45720" rIns="109728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10:30  Case #MD-409  •  P1 Same-day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• Chief complaint &amp; duration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• Medication / sensitivity history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• Red-flag screen done (112 / A&amp;E)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91C1C"/>
                </a:solidFill>
                <a:latin typeface="DM Sans"/>
                <a:ea typeface="DM Sans"/>
                <a:cs typeface="DM Sans"/>
              </a:rPr>
              <a:t>Photo attached: thermometer reading</a:t>
            </a:r>
          </a:p>
        </p:txBody>
      </p:sp>
      <p:sp>
        <p:nvSpPr>
          <p:cNvPr id="25" name="G1 25"/>
          <p:cNvSpPr/>
          <p:nvPr/>
        </p:nvSpPr>
        <p:spPr>
          <a:xfrm rot="-540000">
            <a:off x="5394008" y="3731402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9525">
            <a:solidFill>
              <a:srgbClr val="14B8A6"/>
            </a:solidFill>
          </a:ln>
        </p:spPr>
        <p:txBody>
          <a:bodyPr wrap="square" lIns="109728" tIns="45720" rIns="109728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16:00  Case #MD-415  •  Dental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• WhatsApp photo: fractured tooth #14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• Nurse: chairside tray prep notes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• Thermal sensitivity history</a:t>
            </a:r>
          </a:p>
        </p:txBody>
      </p:sp>
      <p:sp>
        <p:nvSpPr>
          <p:cNvPr id="28" name="WhatsApp Digest"/>
          <p:cNvSpPr/>
          <p:nvPr/>
        </p:nvSpPr>
        <p:spPr>
          <a:xfrm>
            <a:off x="5074920" y="502920"/>
            <a:ext cx="3611880" cy="749808"/>
          </a:xfrm>
          <a:prstGeom prst="roundRect">
            <a:avLst>
              <a:gd name="adj" fmla="val 8000"/>
            </a:avLst>
          </a:prstGeom>
          <a:solidFill>
            <a:srgbClr val="0A192F"/>
          </a:solidFill>
          <a:ln w="9525">
            <a:solidFill>
              <a:srgbClr val="0A192F"/>
            </a:solidFill>
          </a:ln>
        </p:spPr>
        <p:txBody>
          <a:bodyPr wrap="square" lIns="109728" tIns="45720" rIns="109728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Lexend"/>
                <a:ea typeface="Lexend"/>
                <a:cs typeface="Lexend"/>
              </a:rPr>
              <a:t>WhatsApp · P2 GeSY repeat script — Reply A / B / C / D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EEAD4"/>
                </a:solidFill>
                <a:latin typeface="DM Sans"/>
                <a:ea typeface="DM Sans"/>
                <a:cs typeface="DM Sans"/>
              </a:rPr>
              <a:t>[A] Approve &amp; Send     [B] Book Morning Slot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EEAD4"/>
                </a:solidFill>
                <a:latin typeface="DM Sans"/>
                <a:ea typeface="DM Sans"/>
                <a:cs typeface="DM Sans"/>
              </a:rPr>
              <a:t>[C] Request Photo/Labs     [D] Doctor Call Back</a:t>
            </a:r>
          </a:p>
        </p:txBody>
      </p:sp>
      <p:sp>
        <p:nvSpPr>
          <p:cNvPr id="13" name="Shape 10"/>
          <p:cNvSpPr/>
          <p:nvPr/>
        </p:nvSpPr>
        <p:spPr>
          <a:xfrm rot="-552000">
            <a:off x="5067605" y="1790395"/>
            <a:ext cx="3414370" cy="5106924"/>
          </a:xfrm>
          <a:prstGeom prst="roundRect">
            <a:avLst>
              <a:gd name="adj" fmla="val 7820"/>
            </a:avLst>
          </a:prstGeom>
          <a:noFill/>
          <a:ln w="129540">
            <a:solidFill>
              <a:srgbClr val="11111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0740" y="1444752"/>
            <a:ext cx="4160520" cy="25603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25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Dedicated “Anastasia AI” Calendar Layer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40740" y="1691640"/>
            <a:ext cx="4114800" cy="603504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Reads busy blocks across personal, hospital-rounds and clinic calendars (no private details shared) and books onto a color-coded sub-calendar, so AI-booked vs. manual slots stand out.</a:t>
            </a:r>
            <a:endParaRPr lang="en-US" sz="1000" dirty="0"/>
          </a:p>
        </p:txBody>
      </p:sp>
      <p:sp>
        <p:nvSpPr>
          <p:cNvPr id="19" name="Point 2 head"/>
          <p:cNvSpPr/>
          <p:nvPr/>
        </p:nvSpPr>
        <p:spPr>
          <a:xfrm>
            <a:off x="440740" y="2331720"/>
            <a:ext cx="4160520" cy="25603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25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3-Bullet Clinical &amp; Dental Summary</a:t>
            </a:r>
            <a:endParaRPr lang="en-US" sz="1250" dirty="0"/>
          </a:p>
        </p:txBody>
      </p:sp>
      <p:sp>
        <p:nvSpPr>
          <p:cNvPr id="20" name="Point 2 body"/>
          <p:cNvSpPr/>
          <p:nvPr/>
        </p:nvSpPr>
        <p:spPr>
          <a:xfrm>
            <a:off x="440740" y="2578608"/>
            <a:ext cx="4114800" cy="603504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Chief complaint &amp; duration, medication/sensitivity history, and a completed red-flag screen (112 / A&amp;E auto-deflection for chest pain or breathing distress).</a:t>
            </a:r>
            <a:endParaRPr lang="en-US" sz="1000" dirty="0"/>
          </a:p>
        </p:txBody>
      </p:sp>
      <p:sp>
        <p:nvSpPr>
          <p:cNvPr id="21" name="Point 3 head"/>
          <p:cNvSpPr/>
          <p:nvPr/>
        </p:nvSpPr>
        <p:spPr>
          <a:xfrm>
            <a:off x="440740" y="3218687"/>
            <a:ext cx="4160520" cy="25603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25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Zero-App “Reply A / B / C / D” Approval</a:t>
            </a:r>
            <a:endParaRPr lang="en-US" sz="1250" dirty="0"/>
          </a:p>
        </p:txBody>
      </p:sp>
      <p:sp>
        <p:nvSpPr>
          <p:cNvPr id="26" name="Point 4 head"/>
          <p:cNvSpPr/>
          <p:nvPr/>
        </p:nvSpPr>
        <p:spPr>
          <a:xfrm>
            <a:off x="440740" y="4105655"/>
            <a:ext cx="4160520" cy="25603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25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Pre-Attached Photos &amp; Nurse Tray Prep</a:t>
            </a:r>
            <a:endParaRPr lang="en-US" sz="1250" dirty="0"/>
          </a:p>
        </p:txBody>
      </p:sp>
      <p:sp>
        <p:nvSpPr>
          <p:cNvPr id="27" name="Point 4 body"/>
          <p:cNvSpPr/>
          <p:nvPr/>
        </p:nvSpPr>
        <p:spPr>
          <a:xfrm>
            <a:off x="440740" y="4352544"/>
            <a:ext cx="4114800" cy="603504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Patient WhatsApp photos (rash, thermometer, fractured tooth #14) and chairside tray-prep notes are linked directly to the event.</a:t>
            </a:r>
            <a:endParaRPr lang="en-US" sz="1000" dirty="0"/>
          </a:p>
        </p:txBody>
      </p:sp>
      <p:sp>
        <p:nvSpPr>
          <p:cNvPr id="22" name="Point 3 body"/>
          <p:cNvSpPr/>
          <p:nvPr/>
        </p:nvSpPr>
        <p:spPr>
          <a:xfrm>
            <a:off x="440740" y="3465575"/>
            <a:ext cx="4114800" cy="603504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Priority 2/3 bookings and GeSY admin (repeat prescriptions, referrals, lab reviews) arrive as a WhatsApp digest the doctor answers in 1 second from the lock screen.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80974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Start Your 14-Day Free Clinic Pilot in 5 Minutes</a:t>
            </a:r>
            <a:endParaRPr lang="en-US" sz="2600" dirty="0"/>
          </a:p>
        </p:txBody>
      </p:sp>
      <p:sp>
        <p:nvSpPr>
          <p:cNvPr id="20" name="G1 20"/>
          <p:cNvSpPr/>
          <p:nvPr/>
        </p:nvSpPr>
        <p:spPr>
          <a:xfrm>
            <a:off x="480974" y="132588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164592" tIns="45720" rIns="164592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94A3B8"/>
                </a:solidFill>
                <a:latin typeface="Lexend"/>
                <a:ea typeface="Lexend"/>
                <a:cs typeface="Lexend"/>
              </a:rPr>
              <a:t>FULL-TIME FRONT-DESK SECRETARY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Lexend"/>
                <a:ea typeface="Lexend"/>
                <a:cs typeface="Lexend"/>
              </a:rPr>
              <a:t>€1,400+ / month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000" b="0" dirty="0">
                <a:solidFill>
                  <a:srgbClr val="CBD5E1"/>
                </a:solidFill>
                <a:latin typeface="DM Sans"/>
                <a:ea typeface="DM Sans"/>
                <a:cs typeface="DM Sans"/>
              </a:rPr>
              <a:t>8 hours/day, 1 call at a time, holidays &amp; sick leave.</a:t>
            </a:r>
          </a:p>
        </p:txBody>
      </p:sp>
      <p:sp>
        <p:nvSpPr>
          <p:cNvPr id="21" name="G1 21"/>
          <p:cNvSpPr/>
          <p:nvPr/>
        </p:nvSpPr>
        <p:spPr>
          <a:xfrm>
            <a:off x="4142232" y="19019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45720" rIns="0" bIns="45720" anchor="ctr" rtlCol="0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vs</a:t>
            </a:r>
          </a:p>
        </p:txBody>
      </p:sp>
      <p:sp>
        <p:nvSpPr>
          <p:cNvPr id="22" name="G1 22"/>
          <p:cNvSpPr/>
          <p:nvPr/>
        </p:nvSpPr>
        <p:spPr>
          <a:xfrm>
            <a:off x="4636008" y="1325880"/>
            <a:ext cx="4069080" cy="160020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</p:spPr>
        <p:txBody>
          <a:bodyPr wrap="square" lIns="164592" tIns="45720" rIns="164592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MYDOCDESK FOUNDING DOCTOR RATE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€99 / month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000" b="0" dirty="0">
                <a:solidFill>
                  <a:srgbClr val="0A192F"/>
                </a:solidFill>
                <a:latin typeface="DM Sans"/>
                <a:ea typeface="DM Sans"/>
                <a:cs typeface="DM Sans"/>
              </a:rPr>
              <a:t>Locked in for the first 20 clinics (Standard: €149/month) — 24/7 coverage, unlimited simultaneous calls &amp; WhatsApp triage, 14-Day Free Pilot.</a:t>
            </a:r>
          </a:p>
        </p:txBody>
      </p:sp>
      <p:sp>
        <p:nvSpPr>
          <p:cNvPr id="23" name="G1 23"/>
          <p:cNvSpPr/>
          <p:nvPr/>
        </p:nvSpPr>
        <p:spPr>
          <a:xfrm>
            <a:off x="480974" y="3017520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50" b="0" dirty="0">
                <a:solidFill>
                  <a:srgbClr val="E2E8F0"/>
                </a:solidFill>
                <a:latin typeface="DM Sans"/>
                <a:ea typeface="DM Sans"/>
                <a:cs typeface="DM Sans"/>
              </a:rPr>
              <a:t>Zero-Disruption Setup: keep your existing Cyta/Epic/Cablenet clinic number (activate *67* / *61* forwarding on busy/unanswered) and sync with your existing Google, Apple, or Outlook Calendar in 5 minutes.</a:t>
            </a:r>
          </a:p>
        </p:txBody>
      </p:sp>
      <p:sp>
        <p:nvSpPr>
          <p:cNvPr id="5" name="Shape 2"/>
          <p:cNvSpPr/>
          <p:nvPr/>
        </p:nvSpPr>
        <p:spPr>
          <a:xfrm>
            <a:off x="480974" y="3668573"/>
            <a:ext cx="366674" cy="367589"/>
          </a:xfrm>
          <a:prstGeom prst="roundRect">
            <a:avLst>
              <a:gd name="adj" fmla="val 16708"/>
            </a:avLst>
          </a:prstGeom>
          <a:solidFill>
            <a:srgbClr val="14B8A6"/>
          </a:solidFill>
          <a:ln/>
        </p:spPr>
      </p:sp>
      <p:sp>
        <p:nvSpPr>
          <p:cNvPr id="6" name="Shape 3"/>
          <p:cNvSpPr/>
          <p:nvPr/>
        </p:nvSpPr>
        <p:spPr>
          <a:xfrm rot="8100000">
            <a:off x="594817" y="3749954"/>
            <a:ext cx="138989" cy="138989"/>
          </a:xfrm>
          <a:prstGeom prst="teardrop">
            <a:avLst/>
          </a:prstGeom>
          <a:solidFill>
            <a:srgbClr val="14B8A6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5051" y="3771900"/>
            <a:ext cx="58522" cy="5852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9478" y="3649370"/>
            <a:ext cx="1828800" cy="4114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mydocdesk.com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Live interactive demo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78278" y="3672230"/>
            <a:ext cx="366674" cy="367589"/>
          </a:xfrm>
          <a:prstGeom prst="roundRect">
            <a:avLst>
              <a:gd name="adj" fmla="val 16708"/>
            </a:avLst>
          </a:prstGeom>
          <a:solidFill>
            <a:srgbClr val="14B8A6"/>
          </a:solidFill>
          <a:ln/>
        </p:spPr>
      </p:sp>
      <p:sp>
        <p:nvSpPr>
          <p:cNvPr id="10" name="Shape 7"/>
          <p:cNvSpPr/>
          <p:nvPr/>
        </p:nvSpPr>
        <p:spPr>
          <a:xfrm>
            <a:off x="2774747" y="3581705"/>
            <a:ext cx="347472" cy="365760"/>
          </a:xfrm>
          <a:prstGeom prst="blockArc">
            <a:avLst>
              <a:gd name="adj1" fmla="val 5400000"/>
              <a:gd name="adj2" fmla="val 10800000"/>
              <a:gd name="adj3" fmla="val 17000"/>
            </a:avLst>
          </a:prstGeom>
          <a:solidFill>
            <a:srgbClr val="14B8A6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-1200000">
            <a:off x="2763774" y="3748126"/>
            <a:ext cx="56693" cy="73152"/>
          </a:xfrm>
          <a:prstGeom prst="roundRect">
            <a:avLst>
              <a:gd name="adj" fmla="val 35484"/>
            </a:avLst>
          </a:prstGeom>
          <a:solidFill>
            <a:srgbClr val="14B8A6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-1200000">
            <a:off x="2900934" y="3885286"/>
            <a:ext cx="73152" cy="56693"/>
          </a:xfrm>
          <a:prstGeom prst="roundRect">
            <a:avLst>
              <a:gd name="adj" fmla="val 35484"/>
            </a:avLst>
          </a:prstGeom>
          <a:solidFill>
            <a:srgbClr val="14B8A6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81528" y="3724351"/>
            <a:ext cx="1188720" cy="23317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+357 99 429249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00423" y="3672230"/>
            <a:ext cx="366674" cy="367589"/>
          </a:xfrm>
          <a:prstGeom prst="roundRect">
            <a:avLst>
              <a:gd name="adj" fmla="val 16708"/>
            </a:avLst>
          </a:prstGeom>
          <a:solidFill>
            <a:srgbClr val="14B8A6"/>
          </a:solidFill>
          <a:ln/>
        </p:spPr>
      </p:sp>
      <p:sp>
        <p:nvSpPr>
          <p:cNvPr id="15" name="Shape 12"/>
          <p:cNvSpPr/>
          <p:nvPr/>
        </p:nvSpPr>
        <p:spPr>
          <a:xfrm>
            <a:off x="4392320" y="3792017"/>
            <a:ext cx="182880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92320" y="3792017"/>
            <a:ext cx="182880" cy="128016"/>
          </a:xfrm>
          <a:custGeom>
            <a:avLst/>
            <a:gdLst/>
            <a:ahLst/>
            <a:cxnLst/>
            <a:rect l="l" t="t" r="r" b="b"/>
            <a:pathLst>
              <a:path w="182880" h="128016">
                <a:moveTo>
                  <a:pt x="0" y="0"/>
                </a:moveTo>
                <a:lnTo>
                  <a:pt x="91440" y="71323"/>
                </a:lnTo>
                <a:lnTo>
                  <a:pt x="182880" y="0"/>
                </a:lnTo>
              </a:path>
            </a:pathLst>
          </a:custGeom>
          <a:solidFill>
            <a:srgbClr val="14B8A6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48479" y="3720694"/>
            <a:ext cx="1828800" cy="23865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hello@mydocdesk.com</a:t>
            </a:r>
            <a:endParaRPr lang="en-US" sz="1050" dirty="0"/>
          </a:p>
        </p:txBody>
      </p:sp>
      <p:sp>
        <p:nvSpPr>
          <p:cNvPr id="24" name="G1 24"/>
          <p:cNvSpPr/>
          <p:nvPr/>
        </p:nvSpPr>
        <p:spPr>
          <a:xfrm>
            <a:off x="6629400" y="3694176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Lexend"/>
                <a:ea typeface="Lexend"/>
                <a:cs typeface="Lexend"/>
              </a:rPr>
              <a:t>Christos Taliadoros</a:t>
            </a:r>
          </a:p>
        </p:txBody>
      </p:sp>
      <p:sp>
        <p:nvSpPr>
          <p:cNvPr id="18" name="Shape 15"/>
          <p:cNvSpPr/>
          <p:nvPr/>
        </p:nvSpPr>
        <p:spPr>
          <a:xfrm>
            <a:off x="480974" y="4279392"/>
            <a:ext cx="822045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974" y="4370832"/>
            <a:ext cx="8229600" cy="4114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 b="1">
                <a:solidFill>
                  <a:srgbClr val="F59E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Engineered &amp; Supported by T-Knights Consulting Ltd (Cyprus)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exe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exe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Lexend</vt:lpstr>
      <vt:lpstr>DM Sans</vt:lpstr>
      <vt:lpstr>Office Theme</vt:lpstr>
      <vt:lpstr>MyDocDesk: Intelligent Medical &amp; Dental Reception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MyDocDesk - Intelligent Medical Reception</dc:title>
  <dc:subject>PptxGenJS Presentation</dc:subject>
  <dc:creator>Christos Taliadoros</dc:creator>
  <cp:lastModifiedBy>Christos Taliadoros</cp:lastModifiedBy>
  <cp:revision>1</cp:revision>
  <dcterms:created xsi:type="dcterms:W3CDTF">2026-10-26T17:32:55Z</dcterms:created>
  <dcterms:modified xsi:type="dcterms:W3CDTF">2026-10-26T17:32:55Z</dcterms:modified>
</cp:coreProperties>
</file>